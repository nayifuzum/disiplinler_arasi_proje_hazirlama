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Inter"/>
      <p:regular r:id="rId15"/>
    </p:embeddedFon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5016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Araç Akü Sağlık İzleme Sistemi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848743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Nayif ÜZÜM 2322705054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2235026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Yağmur Ceylandağ 2222705008 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2621310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Berat Altun 2222705014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25119" y="3007593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25119" y="3393877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Danışman:</a:t>
            </a:r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Dr. Öğr. Üyesi Onur Mahmut PİŞİRİR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925119" y="3780160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25119" y="4166443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Isparta Uygulamalı Bilimler Üniversitesi — Teknoloji Fakültesi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560636"/>
            <a:ext cx="4738241" cy="741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Tanımı: Neden Akü Arızası Önceden Öğrenilemiyor?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488379" y="1450777"/>
            <a:ext cx="266849" cy="266849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2842" y="1473026"/>
            <a:ext cx="177924" cy="2223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54422" y="1491481"/>
            <a:ext cx="1881411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Gösterge Lambası Sistemi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4422" y="1736378"/>
            <a:ext cx="4372198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Mevcut araçlarda bulunan şarj lambası sadece arıza oluştuğunda yanıyor — önleyici bilgi sunmuyor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88379" y="2283396"/>
            <a:ext cx="266849" cy="266849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2842" y="2305645"/>
            <a:ext cx="177924" cy="2223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4422" y="2324100"/>
            <a:ext cx="1566342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TÜİK Verileri ile Ölçek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4422" y="2568997"/>
            <a:ext cx="4372198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Türkiye'de 33 milyon araç bulunuyor ve bu araçların %9,5'i (yaklaşık 3 milyon araç) her yıl akü kaynaklı sorunlarla karşılaşıyor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88379" y="3116014"/>
            <a:ext cx="266849" cy="266849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2842" y="3138264"/>
            <a:ext cx="177924" cy="2223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4422" y="3156719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Önceden Uyarı Yok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54422" y="3401616"/>
            <a:ext cx="4372198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Sürücülerin elinde akü kritik seviyeye gelmeden önce uyaran bir sistem bulunmuyor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8379" y="3948633"/>
            <a:ext cx="266849" cy="266849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2842" y="3970883"/>
            <a:ext cx="177924" cy="2223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4422" y="3989338"/>
            <a:ext cx="2433935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Sonuç: İşi İşten Geçirdikten Sonra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54422" y="4234235"/>
            <a:ext cx="4372198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Sürücüler akü arızasını yalnızca yolda kalmaya başladıklarında öğreniyor, maddi ve zaman kaybı yaşanıyor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25276"/>
            <a:ext cx="8167241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Literatür Taraması: Mevcut Çözümlerin Sınırlılıkları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572146"/>
            <a:ext cx="81672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İncelenen 5 akademik çalışma, akü izleme sistemlerinde üç temel sınırlılığa işaret ediyor.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88379" y="1948086"/>
            <a:ext cx="2630835" cy="1807220"/>
          </a:xfrm>
          <a:prstGeom prst="roundRect">
            <a:avLst>
              <a:gd name="adj" fmla="val 5060"/>
            </a:avLst>
          </a:prstGeom>
          <a:solidFill>
            <a:srgbClr val="272525"/>
          </a:solidFill>
          <a:ln w="19050">
            <a:solidFill>
              <a:srgbClr val="2A1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9329" y="1948086"/>
            <a:ext cx="76200" cy="1807220"/>
          </a:xfrm>
          <a:prstGeom prst="roundRect">
            <a:avLst>
              <a:gd name="adj" fmla="val 76919"/>
            </a:avLst>
          </a:prstGeom>
          <a:solidFill>
            <a:srgbClr val="2B0AFF"/>
          </a:solidFill>
          <a:ln/>
        </p:spPr>
      </p:sp>
      <p:sp>
        <p:nvSpPr>
          <p:cNvPr id="6" name="Text 4"/>
          <p:cNvSpPr/>
          <p:nvPr/>
        </p:nvSpPr>
        <p:spPr>
          <a:xfrm>
            <a:off x="704106" y="2106662"/>
            <a:ext cx="188699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Demirci ve Ark. (2019)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4106" y="2407072"/>
            <a:ext cx="225653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Yaklaşım: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Hücre seviyesinde yüksek doğruluk sağladı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4106" y="2932361"/>
            <a:ext cx="2256532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NI-DAQ kartları gerçek araç kullanımı için çok pahalı ve ölçeklenebilir değil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56583" y="1948086"/>
            <a:ext cx="2630835" cy="1807220"/>
          </a:xfrm>
          <a:prstGeom prst="roundRect">
            <a:avLst>
              <a:gd name="adj" fmla="val 5060"/>
            </a:avLst>
          </a:prstGeom>
          <a:solidFill>
            <a:srgbClr val="272525"/>
          </a:solidFill>
          <a:ln w="19050">
            <a:solidFill>
              <a:srgbClr val="2A1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37533" y="1948086"/>
            <a:ext cx="76200" cy="1807220"/>
          </a:xfrm>
          <a:prstGeom prst="roundRect">
            <a:avLst>
              <a:gd name="adj" fmla="val 76919"/>
            </a:avLst>
          </a:prstGeom>
          <a:solidFill>
            <a:srgbClr val="2B0AFF"/>
          </a:solidFill>
          <a:ln/>
        </p:spPr>
      </p:sp>
      <p:sp>
        <p:nvSpPr>
          <p:cNvPr id="11" name="Text 9"/>
          <p:cNvSpPr/>
          <p:nvPr/>
        </p:nvSpPr>
        <p:spPr>
          <a:xfrm>
            <a:off x="3472309" y="2106662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Maltezo (2021)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72309" y="2407072"/>
            <a:ext cx="225653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Yaklaşım: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Verileri SD karta kaydetti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2309" y="2932361"/>
            <a:ext cx="225653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Anlık uyarı imkânı ortadan kalktı, sistem reaktif kaldı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24786" y="1948086"/>
            <a:ext cx="2630835" cy="1807220"/>
          </a:xfrm>
          <a:prstGeom prst="roundRect">
            <a:avLst>
              <a:gd name="adj" fmla="val 5060"/>
            </a:avLst>
          </a:prstGeom>
          <a:solidFill>
            <a:srgbClr val="272525"/>
          </a:solidFill>
          <a:ln w="19050">
            <a:solidFill>
              <a:srgbClr val="2A1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05736" y="1948086"/>
            <a:ext cx="76200" cy="1807220"/>
          </a:xfrm>
          <a:prstGeom prst="roundRect">
            <a:avLst>
              <a:gd name="adj" fmla="val 76919"/>
            </a:avLst>
          </a:prstGeom>
          <a:solidFill>
            <a:srgbClr val="2B0AFF"/>
          </a:solidFill>
          <a:ln/>
        </p:spPr>
      </p:sp>
      <p:sp>
        <p:nvSpPr>
          <p:cNvPr id="16" name="Text 14"/>
          <p:cNvSpPr/>
          <p:nvPr/>
        </p:nvSpPr>
        <p:spPr>
          <a:xfrm>
            <a:off x="6240512" y="2106662"/>
            <a:ext cx="183207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Kerley ve Ekibi (2015)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40512" y="2407072"/>
            <a:ext cx="225653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Yaklaşım: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Akım sensörünü sistemden çıkardı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40512" y="2932361"/>
            <a:ext cx="2256532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Maliyet düştü ancak ölçüm doğruluğu ciddi ölçüde azaldı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8379" y="3909789"/>
            <a:ext cx="8167241" cy="808434"/>
          </a:xfrm>
          <a:prstGeom prst="roundRect">
            <a:avLst>
              <a:gd name="adj" fmla="val 7250"/>
            </a:avLst>
          </a:prstGeom>
          <a:solidFill>
            <a:srgbClr val="0A004D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906" y="4119190"/>
            <a:ext cx="174427" cy="13952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41859" y="4081983"/>
            <a:ext cx="757423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Genel Değerlendirme: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Mevcut akademik çalışmalar ya yüksek maliyetli ekipmana dayanıyor ya da kritik ölçümlerden ödün veriyor. Proaktif ve uygun maliyetli bir çözüm ihtiyacı var.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1339"/>
            <a:ext cx="2753618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Geliştirilen Proje Fikri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152823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Temel Amaç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96119" y="1431801"/>
            <a:ext cx="2684487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Sürücüyü akü kritik seviyeye gelmeden önce uyarmak ve yolda kalma olaylarını önlemek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6119" y="1809155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Kullanılan Donanım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2088133"/>
            <a:ext cx="2684487" cy="85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Arduino Nano mikrokontrolcüsü</a:t>
            </a:r>
            <a:endParaRPr lang="en-US" sz="800" dirty="0"/>
          </a:p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ACS712 Hall Effect akım sensörü</a:t>
            </a:r>
            <a:endParaRPr lang="en-US" sz="800" dirty="0"/>
          </a:p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Gerilim bölücü devre</a:t>
            </a:r>
            <a:endParaRPr lang="en-US" sz="800" dirty="0"/>
          </a:p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16x2 LCD ekran</a:t>
            </a:r>
            <a:endParaRPr lang="en-US" sz="800" dirty="0"/>
          </a:p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ve buzzer uyarı sistemi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0" y="1012850"/>
            <a:ext cx="3905845" cy="2019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6119" y="3211488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96119" y="3377878"/>
            <a:ext cx="4035996" cy="14288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0" name="Text 7"/>
          <p:cNvSpPr/>
          <p:nvPr/>
        </p:nvSpPr>
        <p:spPr>
          <a:xfrm>
            <a:off x="496119" y="3459584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Eş Zamanlı Ölçüm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96119" y="3673450"/>
            <a:ext cx="40359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Gerilim ve akım değerleri aynı anda ölçülüyor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11812" y="3211488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611812" y="3377878"/>
            <a:ext cx="4036070" cy="14288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11812" y="3459584"/>
            <a:ext cx="168637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Şarj Durumu (SoC) Hesabı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11812" y="3673450"/>
            <a:ext cx="403607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Coulomb Counting yöntemi ile anlık şarj yüzdesi hesaplanıyor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96119" y="3981673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96119" y="4148063"/>
            <a:ext cx="4035996" cy="14288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8" name="Text 15"/>
          <p:cNvSpPr/>
          <p:nvPr/>
        </p:nvSpPr>
        <p:spPr>
          <a:xfrm>
            <a:off x="496119" y="4229770"/>
            <a:ext cx="183058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Sağlık Durumu (SoH) Hesabı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6119" y="4443636"/>
            <a:ext cx="40359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Açık devre gerilimi ve iç direnç ile akünün uzun vadeli sağlık durumu belirleniyor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611812" y="3981673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611812" y="4148063"/>
            <a:ext cx="4036070" cy="14288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22" name="Text 19"/>
          <p:cNvSpPr/>
          <p:nvPr/>
        </p:nvSpPr>
        <p:spPr>
          <a:xfrm>
            <a:off x="4611812" y="422977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Uyarı Sistemi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611812" y="4443636"/>
            <a:ext cx="403607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12,2V'te sarı LED (ilk uyarı), 11,8V'te buzzer (kritik uyarı) aktif oluyor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831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2243733"/>
            <a:ext cx="6418213" cy="30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Yenilikçi Yön: Mevcut Çalışmalardan Ayrışan Üç Nokta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88379" y="2649885"/>
            <a:ext cx="2677567" cy="1154088"/>
          </a:xfrm>
          <a:prstGeom prst="roundRect">
            <a:avLst>
              <a:gd name="adj" fmla="val 355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0773" y="2752279"/>
            <a:ext cx="293043" cy="293043"/>
          </a:xfrm>
          <a:prstGeom prst="roundRect">
            <a:avLst>
              <a:gd name="adj" fmla="val 19500307"/>
            </a:avLst>
          </a:prstGeom>
          <a:solidFill>
            <a:srgbClr val="2B0A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364" y="2832795"/>
            <a:ext cx="131862" cy="1318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0773" y="3112591"/>
            <a:ext cx="1519014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Eş Zamanlı ve Tam Ölçüm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90773" y="3305547"/>
            <a:ext cx="2472779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Kerley'in aksine, hem voltaj hem akım sensörü kullanılarak ölçümden ödün verilmiyor. Yüksek doğruluk korunuyor.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3233217" y="2649885"/>
            <a:ext cx="2677567" cy="1154088"/>
          </a:xfrm>
          <a:prstGeom prst="roundRect">
            <a:avLst>
              <a:gd name="adj" fmla="val 355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335610" y="2752279"/>
            <a:ext cx="293043" cy="293043"/>
          </a:xfrm>
          <a:prstGeom prst="roundRect">
            <a:avLst>
              <a:gd name="adj" fmla="val 19500307"/>
            </a:avLst>
          </a:prstGeom>
          <a:solidFill>
            <a:srgbClr val="2B0A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6201" y="2832795"/>
            <a:ext cx="131862" cy="1318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35610" y="3112591"/>
            <a:ext cx="1473101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Düşük Maliyetli Donanım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335610" y="3305547"/>
            <a:ext cx="247277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Demirci'nin NI-DAQ sisteminin aksine Arduino Nano ile herkesin ulaşabileceği bir donanım kullanılıyor.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5978054" y="2649885"/>
            <a:ext cx="2677567" cy="1154088"/>
          </a:xfrm>
          <a:prstGeom prst="roundRect">
            <a:avLst>
              <a:gd name="adj" fmla="val 355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080447" y="2752279"/>
            <a:ext cx="293043" cy="293043"/>
          </a:xfrm>
          <a:prstGeom prst="roundRect">
            <a:avLst>
              <a:gd name="adj" fmla="val 19500307"/>
            </a:avLst>
          </a:prstGeom>
          <a:solidFill>
            <a:srgbClr val="2B0A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1038" y="2832795"/>
            <a:ext cx="131862" cy="1318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80447" y="3112591"/>
            <a:ext cx="1396678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Anlık ve Proaktif İşleme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6080447" y="3305547"/>
            <a:ext cx="247277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Maltezo'nun SD kart yaklaşımının aksine veriler milisaniyeler içinde işleniyor ve anlık uyarı üretiliyor.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488379" y="3879652"/>
            <a:ext cx="219745" cy="219745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75395" y="3913212"/>
            <a:ext cx="1932608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Çift Katmanlı Uyarı Mekanizması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775395" y="4106168"/>
            <a:ext cx="7880226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Görsel  ve işitsel  uyarı birlikte kullanılarak sürücüye net mesaj iletiliyor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488379" y="4372794"/>
            <a:ext cx="219745" cy="219745"/>
          </a:xfrm>
          <a:prstGeom prst="roundRect">
            <a:avLst>
              <a:gd name="adj" fmla="val 18671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75395" y="4406354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Kolay Kurulum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775395" y="4599310"/>
            <a:ext cx="7880226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Özel kurulum gerektirmez, mevcut akü bağlantı noktalarına doğrudan takılabilir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23416"/>
            <a:ext cx="4964013" cy="4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Etik ve Sürdürülebilirlik Boyutu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88379" y="1147614"/>
            <a:ext cx="1988567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Etik Boyut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488379" y="1608534"/>
            <a:ext cx="66229" cy="66229"/>
          </a:xfrm>
          <a:prstGeom prst="roundRect">
            <a:avLst>
              <a:gd name="adj" fmla="val 431458"/>
            </a:avLst>
          </a:prstGeom>
          <a:solidFill>
            <a:srgbClr val="2B0AFF"/>
          </a:solidFill>
          <a:ln/>
        </p:spPr>
      </p:sp>
      <p:sp>
        <p:nvSpPr>
          <p:cNvPr id="5" name="Text 3"/>
          <p:cNvSpPr/>
          <p:nvPr/>
        </p:nvSpPr>
        <p:spPr>
          <a:xfrm>
            <a:off x="678582" y="1535609"/>
            <a:ext cx="3731716" cy="410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yalnızca aracın fiziksel akü verilerini ölçüyor, kişisel veri toplanmıyor veya saklanmıyor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8379" y="2266950"/>
            <a:ext cx="66229" cy="66229"/>
          </a:xfrm>
          <a:prstGeom prst="roundRect">
            <a:avLst>
              <a:gd name="adj" fmla="val 431458"/>
            </a:avLst>
          </a:prstGeom>
          <a:solidFill>
            <a:srgbClr val="2B0AFF"/>
          </a:solidFill>
          <a:ln/>
        </p:spPr>
      </p:sp>
      <p:sp>
        <p:nvSpPr>
          <p:cNvPr id="7" name="Text 5"/>
          <p:cNvSpPr/>
          <p:nvPr/>
        </p:nvSpPr>
        <p:spPr>
          <a:xfrm>
            <a:off x="678582" y="2194024"/>
            <a:ext cx="3731716" cy="410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Araç elektrik sistemine zarar vermemek için koruma devreleri tasarlandı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8379" y="2925366"/>
            <a:ext cx="66229" cy="66229"/>
          </a:xfrm>
          <a:prstGeom prst="roundRect">
            <a:avLst>
              <a:gd name="adj" fmla="val 431458"/>
            </a:avLst>
          </a:prstGeom>
          <a:solidFill>
            <a:srgbClr val="2B0AFF"/>
          </a:solidFill>
          <a:ln/>
        </p:spPr>
      </p:sp>
      <p:sp>
        <p:nvSpPr>
          <p:cNvPr id="9" name="Text 7"/>
          <p:cNvSpPr/>
          <p:nvPr/>
        </p:nvSpPr>
        <p:spPr>
          <a:xfrm>
            <a:off x="678582" y="2852440"/>
            <a:ext cx="3731716" cy="410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Ölçüm doğruluğu için sensör kalibrasyonu ve test süreçleri planlandı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38464" y="1147614"/>
            <a:ext cx="1988567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Sürdürülebilirlik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738464" y="1520130"/>
            <a:ext cx="3921919" cy="410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 Sürdürülebilir Kalkınma Amaçları  ile doğrudan örtüşen katkılara sahip.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8379" y="3541812"/>
            <a:ext cx="331366" cy="33136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8379" y="4028108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BM SKA Hedef 9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8379" y="4309542"/>
            <a:ext cx="4006155" cy="410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Sanayi, Yenilikçilik ve Altyapı: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Düşük maliyetli, ölçeklenebilir mühendislik çözümü ile erişilebilir teknoloji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3541812"/>
            <a:ext cx="331366" cy="33136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49465" y="4028108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BM SKA Hedef 12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649465" y="4309542"/>
            <a:ext cx="4006155" cy="410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Sorumlu Tüketim ve Üretim: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Erken uyarı sayesinde gereksiz akü değişimi azalır, elektronik atık azalır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02146"/>
            <a:ext cx="2588865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Disiplinler Arası Katkı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916409"/>
            <a:ext cx="472276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Üç ekip üyesi elektrik ve elektronik mühendisliğinin alt disiplinini temsil ederek sistemin bütünlüğünü sağlıyor.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3925119" y="1264518"/>
            <a:ext cx="4722763" cy="894531"/>
          </a:xfrm>
          <a:prstGeom prst="roundRect">
            <a:avLst>
              <a:gd name="adj" fmla="val 4659"/>
            </a:avLst>
          </a:prstGeom>
          <a:solidFill>
            <a:srgbClr val="272525"/>
          </a:solidFill>
          <a:ln w="14288">
            <a:solidFill>
              <a:srgbClr val="2A19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39406" y="1278806"/>
            <a:ext cx="99194" cy="865956"/>
          </a:xfrm>
          <a:prstGeom prst="roundRect">
            <a:avLst>
              <a:gd name="adj" fmla="val 24734"/>
            </a:avLst>
          </a:prstGeom>
          <a:solidFill>
            <a:srgbClr val="110080"/>
          </a:solidFill>
          <a:ln/>
        </p:spPr>
      </p:sp>
      <p:sp>
        <p:nvSpPr>
          <p:cNvPr id="7" name="Text 4"/>
          <p:cNvSpPr/>
          <p:nvPr/>
        </p:nvSpPr>
        <p:spPr>
          <a:xfrm>
            <a:off x="4108028" y="1378000"/>
            <a:ext cx="1643137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Nayif ÜZÜM (2322705054)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108028" y="1574676"/>
            <a:ext cx="452556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Donanım Mimarisi ve Güç Elektroniği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108028" y="1751335"/>
            <a:ext cx="4525566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Gerilim bölücü devre tasarımı</a:t>
            </a:r>
            <a:endParaRPr lang="en-US" sz="7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ACS712 sensörü bağlantısı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073947" y="2228478"/>
            <a:ext cx="4573935" cy="894531"/>
          </a:xfrm>
          <a:prstGeom prst="roundRect">
            <a:avLst>
              <a:gd name="adj" fmla="val 4659"/>
            </a:avLst>
          </a:prstGeom>
          <a:solidFill>
            <a:srgbClr val="272525"/>
          </a:solidFill>
          <a:ln w="14288">
            <a:solidFill>
              <a:srgbClr val="2A199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88234" y="2242765"/>
            <a:ext cx="99194" cy="865956"/>
          </a:xfrm>
          <a:prstGeom prst="roundRect">
            <a:avLst>
              <a:gd name="adj" fmla="val 24734"/>
            </a:avLst>
          </a:prstGeom>
          <a:solidFill>
            <a:srgbClr val="110080"/>
          </a:solidFill>
          <a:ln/>
        </p:spPr>
      </p:sp>
      <p:sp>
        <p:nvSpPr>
          <p:cNvPr id="12" name="Text 9"/>
          <p:cNvSpPr/>
          <p:nvPr/>
        </p:nvSpPr>
        <p:spPr>
          <a:xfrm>
            <a:off x="4256856" y="2341959"/>
            <a:ext cx="2061939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Yağmur Ceylandağ (2222705008)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256856" y="2538636"/>
            <a:ext cx="4376738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Gömülü Yazılım ve Veri İşleme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256856" y="2715295"/>
            <a:ext cx="4376738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Arduino kodlama</a:t>
            </a:r>
            <a:endParaRPr lang="en-US" sz="7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ve SoH hesaplama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222775" y="3192438"/>
            <a:ext cx="4425107" cy="894531"/>
          </a:xfrm>
          <a:prstGeom prst="roundRect">
            <a:avLst>
              <a:gd name="adj" fmla="val 4659"/>
            </a:avLst>
          </a:prstGeom>
          <a:solidFill>
            <a:srgbClr val="272525"/>
          </a:solidFill>
          <a:ln w="14288">
            <a:solidFill>
              <a:srgbClr val="2A199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37062" y="3206725"/>
            <a:ext cx="99194" cy="865956"/>
          </a:xfrm>
          <a:prstGeom prst="roundRect">
            <a:avLst>
              <a:gd name="adj" fmla="val 24734"/>
            </a:avLst>
          </a:prstGeom>
          <a:solidFill>
            <a:srgbClr val="110080"/>
          </a:solidFill>
          <a:ln/>
        </p:spPr>
      </p:sp>
      <p:sp>
        <p:nvSpPr>
          <p:cNvPr id="17" name="Text 14"/>
          <p:cNvSpPr/>
          <p:nvPr/>
        </p:nvSpPr>
        <p:spPr>
          <a:xfrm>
            <a:off x="4405685" y="3305919"/>
            <a:ext cx="156611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Berat Altun (2222705014)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405685" y="3502596"/>
            <a:ext cx="4227909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Kullanıcı Arayüzü ve Sistem Entegrasyonu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405685" y="3679254"/>
            <a:ext cx="4227909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ve buzzer uyarı sistemi</a:t>
            </a:r>
            <a:endParaRPr lang="en-US" sz="7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Arduino Nano ile LCD entegrasyonu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925119" y="4165104"/>
            <a:ext cx="4722763" cy="476250"/>
          </a:xfrm>
          <a:prstGeom prst="roundRect">
            <a:avLst>
              <a:gd name="adj" fmla="val 8752"/>
            </a:avLst>
          </a:prstGeom>
          <a:solidFill>
            <a:srgbClr val="0A004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312" y="4302249"/>
            <a:ext cx="123974" cy="9919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47480" y="4259312"/>
            <a:ext cx="4301207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Sistemin Bütünlüğü: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Donanım olmadan güvenilir veri yok, yazılım olmadan akıllı karar yok, arayüz olmadan uyarı sürücüye ulaşmıyor. Üç disiplin birbirini besliyor.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746"/>
            <a:ext cx="2303711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Sonuç ve Hedefler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949375"/>
            <a:ext cx="5136207" cy="794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Sürücü yolda kalmadan önce haberdar olsun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198" y="956890"/>
            <a:ext cx="1813917" cy="13116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425675"/>
            <a:ext cx="1382167" cy="172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 Özeti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6119" y="2622277"/>
            <a:ext cx="1569393" cy="172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Ölçeklenebilirlik ve Etki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96119" y="2884810"/>
            <a:ext cx="8151763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Türkiye'de 33 milyon araçlık pazar için doğrudan uygulanabilir. Akü arızası oranını %30-40 azaltma hedefiyle geliştirildi.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96119" y="3073747"/>
            <a:ext cx="2677344" cy="831428"/>
          </a:xfrm>
          <a:prstGeom prst="roundRect">
            <a:avLst>
              <a:gd name="adj" fmla="val 465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3006" y="3170634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2B0A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982" y="3246611"/>
            <a:ext cx="124346" cy="12434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3006" y="3506837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Düşük Maliyet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93006" y="3686696"/>
            <a:ext cx="2483569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Arduino Nano tabanlı çözüm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3233291" y="3073747"/>
            <a:ext cx="2677344" cy="831428"/>
          </a:xfrm>
          <a:prstGeom prst="roundRect">
            <a:avLst>
              <a:gd name="adj" fmla="val 465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330178" y="3170634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2B0A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6155" y="3246611"/>
            <a:ext cx="124346" cy="12434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30178" y="3506837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Yüksek Doğruluk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330178" y="3686696"/>
            <a:ext cx="2483569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Eş zamanlı voltaj-akım ölçümü</a:t>
            </a:r>
            <a:endParaRPr lang="en-US" sz="700" dirty="0"/>
          </a:p>
        </p:txBody>
      </p:sp>
      <p:sp>
        <p:nvSpPr>
          <p:cNvPr id="18" name="Shape 13"/>
          <p:cNvSpPr/>
          <p:nvPr/>
        </p:nvSpPr>
        <p:spPr>
          <a:xfrm>
            <a:off x="5970463" y="3073747"/>
            <a:ext cx="2677418" cy="831428"/>
          </a:xfrm>
          <a:prstGeom prst="roundRect">
            <a:avLst>
              <a:gd name="adj" fmla="val 465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067351" y="3170634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2B0A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3327" y="3246611"/>
            <a:ext cx="124346" cy="12434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67351" y="3506837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Anlık Uyarı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6067351" y="3686696"/>
            <a:ext cx="2483644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ve buzzer ile çift katmanlı sistem</a:t>
            </a:r>
            <a:endParaRPr lang="en-US" sz="700" dirty="0"/>
          </a:p>
        </p:txBody>
      </p:sp>
      <p:sp>
        <p:nvSpPr>
          <p:cNvPr id="23" name="Shape 17"/>
          <p:cNvSpPr/>
          <p:nvPr/>
        </p:nvSpPr>
        <p:spPr>
          <a:xfrm>
            <a:off x="496119" y="3995514"/>
            <a:ext cx="8151763" cy="6846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496119" y="4152528"/>
            <a:ext cx="184293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Teşekkürler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4689128" y="4146575"/>
            <a:ext cx="3963516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496119" y="4510088"/>
            <a:ext cx="8151763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Sorularınız?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2026-05-09T12:24:13Z</dcterms:created>
  <dcterms:modified xsi:type="dcterms:W3CDTF">2026-05-09T12:24:13Z</dcterms:modified>
</cp:coreProperties>
</file>